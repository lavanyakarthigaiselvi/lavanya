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4" r:id="rId9"/>
    <p:sldId id="265" r:id="rId10"/>
    <p:sldId id="266" r:id="rId11"/>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5" d="100"/>
          <a:sy n="65" d="100"/>
        </p:scale>
        <p:origin x="-918" y="-102"/>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4/5/2024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1" i="0">
                <a:solidFill>
                  <a:srgbClr val="001F5F"/>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4/5/2024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1" i="0">
                <a:solidFill>
                  <a:srgbClr val="001F5F"/>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4/5/2024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1" i="0">
                <a:solidFill>
                  <a:srgbClr val="001F5F"/>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4/5/2024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4/5/2024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47675" y="457200"/>
            <a:ext cx="3705225" cy="95250"/>
          </a:xfrm>
          <a:custGeom>
            <a:avLst/>
            <a:gdLst/>
            <a:ahLst/>
            <a:cxnLst/>
            <a:rect l="l" t="t" r="r" b="b"/>
            <a:pathLst>
              <a:path w="3705225" h="95250">
                <a:moveTo>
                  <a:pt x="3705225" y="0"/>
                </a:moveTo>
                <a:lnTo>
                  <a:pt x="0" y="0"/>
                </a:lnTo>
                <a:lnTo>
                  <a:pt x="0" y="95250"/>
                </a:lnTo>
                <a:lnTo>
                  <a:pt x="3705225" y="95250"/>
                </a:lnTo>
                <a:lnTo>
                  <a:pt x="3705225" y="0"/>
                </a:lnTo>
                <a:close/>
              </a:path>
            </a:pathLst>
          </a:custGeom>
          <a:solidFill>
            <a:srgbClr val="465258"/>
          </a:solidFill>
        </p:spPr>
        <p:txBody>
          <a:bodyPr wrap="square" lIns="0" tIns="0" rIns="0" bIns="0" rtlCol="0"/>
          <a:lstStyle/>
          <a:p>
            <a:endParaRPr/>
          </a:p>
        </p:txBody>
      </p:sp>
      <p:sp>
        <p:nvSpPr>
          <p:cNvPr id="17" name="bg object 17"/>
          <p:cNvSpPr/>
          <p:nvPr/>
        </p:nvSpPr>
        <p:spPr>
          <a:xfrm>
            <a:off x="8039100" y="457200"/>
            <a:ext cx="3705225" cy="95250"/>
          </a:xfrm>
          <a:custGeom>
            <a:avLst/>
            <a:gdLst/>
            <a:ahLst/>
            <a:cxnLst/>
            <a:rect l="l" t="t" r="r" b="b"/>
            <a:pathLst>
              <a:path w="3705225" h="95250">
                <a:moveTo>
                  <a:pt x="3705225" y="0"/>
                </a:moveTo>
                <a:lnTo>
                  <a:pt x="0" y="0"/>
                </a:lnTo>
                <a:lnTo>
                  <a:pt x="0" y="95250"/>
                </a:lnTo>
                <a:lnTo>
                  <a:pt x="3705225" y="95250"/>
                </a:lnTo>
                <a:lnTo>
                  <a:pt x="3705225" y="0"/>
                </a:lnTo>
                <a:close/>
              </a:path>
            </a:pathLst>
          </a:custGeom>
          <a:solidFill>
            <a:srgbClr val="959FA7"/>
          </a:solidFill>
        </p:spPr>
        <p:txBody>
          <a:bodyPr wrap="square" lIns="0" tIns="0" rIns="0" bIns="0" rtlCol="0"/>
          <a:lstStyle/>
          <a:p>
            <a:endParaRPr/>
          </a:p>
        </p:txBody>
      </p:sp>
      <p:sp>
        <p:nvSpPr>
          <p:cNvPr id="18" name="bg object 18"/>
          <p:cNvSpPr/>
          <p:nvPr/>
        </p:nvSpPr>
        <p:spPr>
          <a:xfrm>
            <a:off x="4238625" y="457200"/>
            <a:ext cx="3705225" cy="95250"/>
          </a:xfrm>
          <a:custGeom>
            <a:avLst/>
            <a:gdLst/>
            <a:ahLst/>
            <a:cxnLst/>
            <a:rect l="l" t="t" r="r" b="b"/>
            <a:pathLst>
              <a:path w="3705225" h="95250">
                <a:moveTo>
                  <a:pt x="3705225" y="0"/>
                </a:moveTo>
                <a:lnTo>
                  <a:pt x="0" y="0"/>
                </a:lnTo>
                <a:lnTo>
                  <a:pt x="0" y="95250"/>
                </a:lnTo>
                <a:lnTo>
                  <a:pt x="3705225" y="95250"/>
                </a:lnTo>
                <a:lnTo>
                  <a:pt x="3705225" y="0"/>
                </a:lnTo>
                <a:close/>
              </a:path>
            </a:pathLst>
          </a:custGeom>
          <a:solidFill>
            <a:srgbClr val="1CACE3"/>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0509963" y="6448061"/>
            <a:ext cx="1091837" cy="334460"/>
          </a:xfrm>
          <a:prstGeom prst="rect">
            <a:avLst/>
          </a:prstGeom>
        </p:spPr>
      </p:pic>
      <p:sp>
        <p:nvSpPr>
          <p:cNvPr id="2" name="Holder 2"/>
          <p:cNvSpPr>
            <a:spLocks noGrp="1"/>
          </p:cNvSpPr>
          <p:nvPr>
            <p:ph type="title"/>
          </p:nvPr>
        </p:nvSpPr>
        <p:spPr>
          <a:xfrm>
            <a:off x="5013070" y="3602418"/>
            <a:ext cx="2165858" cy="448945"/>
          </a:xfrm>
          <a:prstGeom prst="rect">
            <a:avLst/>
          </a:prstGeom>
        </p:spPr>
        <p:txBody>
          <a:bodyPr wrap="square" lIns="0" tIns="0" rIns="0" bIns="0">
            <a:spAutoFit/>
          </a:bodyPr>
          <a:lstStyle>
            <a:lvl1pPr>
              <a:defRPr sz="2750" b="1" i="0">
                <a:solidFill>
                  <a:srgbClr val="001F5F"/>
                </a:solidFill>
                <a:latin typeface="Arial"/>
                <a:cs typeface="Arial"/>
              </a:defRPr>
            </a:lvl1pPr>
          </a:lstStyle>
          <a:p>
            <a:endParaRPr/>
          </a:p>
        </p:txBody>
      </p:sp>
      <p:sp>
        <p:nvSpPr>
          <p:cNvPr id="3" name="Holder 3"/>
          <p:cNvSpPr>
            <a:spLocks noGrp="1"/>
          </p:cNvSpPr>
          <p:nvPr>
            <p:ph type="body" idx="1"/>
          </p:nvPr>
        </p:nvSpPr>
        <p:spPr>
          <a:xfrm>
            <a:off x="447675" y="3086100"/>
            <a:ext cx="11296650" cy="333375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4/5/2024</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37405" y="2185924"/>
            <a:ext cx="3586479" cy="575310"/>
          </a:xfrm>
          <a:prstGeom prst="rect">
            <a:avLst/>
          </a:prstGeom>
        </p:spPr>
        <p:txBody>
          <a:bodyPr vert="horz" wrap="square" lIns="0" tIns="13335" rIns="0" bIns="0" rtlCol="0">
            <a:spAutoFit/>
          </a:bodyPr>
          <a:lstStyle/>
          <a:p>
            <a:pPr marL="12700">
              <a:lnSpc>
                <a:spcPct val="100000"/>
              </a:lnSpc>
              <a:spcBef>
                <a:spcPts val="105"/>
              </a:spcBef>
            </a:pPr>
            <a:r>
              <a:rPr lang="en-IN" sz="3600" b="1" spc="5" dirty="0" err="1" smtClean="0">
                <a:solidFill>
                  <a:srgbClr val="1CACE3"/>
                </a:solidFill>
                <a:latin typeface="Arial"/>
                <a:cs typeface="Arial"/>
              </a:rPr>
              <a:t>Color</a:t>
            </a:r>
            <a:r>
              <a:rPr lang="en-IN" sz="3600" b="1" spc="5" dirty="0" smtClean="0">
                <a:solidFill>
                  <a:srgbClr val="1CACE3"/>
                </a:solidFill>
                <a:latin typeface="Arial"/>
                <a:cs typeface="Arial"/>
              </a:rPr>
              <a:t> Detection</a:t>
            </a:r>
            <a:endParaRPr sz="3600">
              <a:latin typeface="Arial"/>
              <a:cs typeface="Arial"/>
            </a:endParaRPr>
          </a:p>
        </p:txBody>
      </p:sp>
      <p:sp>
        <p:nvSpPr>
          <p:cNvPr id="3" name="object 3"/>
          <p:cNvSpPr txBox="1">
            <a:spLocks noGrp="1"/>
          </p:cNvSpPr>
          <p:nvPr>
            <p:ph type="title"/>
          </p:nvPr>
        </p:nvSpPr>
        <p:spPr>
          <a:xfrm>
            <a:off x="3867150" y="1049655"/>
            <a:ext cx="4326890" cy="518159"/>
          </a:xfrm>
          <a:prstGeom prst="rect">
            <a:avLst/>
          </a:prstGeom>
        </p:spPr>
        <p:txBody>
          <a:bodyPr vert="horz" wrap="square" lIns="0" tIns="16510" rIns="0" bIns="0" rtlCol="0">
            <a:spAutoFit/>
          </a:bodyPr>
          <a:lstStyle/>
          <a:p>
            <a:pPr marL="12700">
              <a:lnSpc>
                <a:spcPct val="100000"/>
              </a:lnSpc>
              <a:spcBef>
                <a:spcPts val="130"/>
              </a:spcBef>
            </a:pPr>
            <a:r>
              <a:rPr sz="3200" spc="20" dirty="0">
                <a:solidFill>
                  <a:srgbClr val="1382AC"/>
                </a:solidFill>
              </a:rPr>
              <a:t>CAP</a:t>
            </a:r>
            <a:r>
              <a:rPr sz="3200" spc="35" dirty="0">
                <a:solidFill>
                  <a:srgbClr val="1382AC"/>
                </a:solidFill>
              </a:rPr>
              <a:t>S</a:t>
            </a:r>
            <a:r>
              <a:rPr sz="3200" spc="-10" dirty="0">
                <a:solidFill>
                  <a:srgbClr val="1382AC"/>
                </a:solidFill>
              </a:rPr>
              <a:t>T</a:t>
            </a:r>
            <a:r>
              <a:rPr sz="3200" spc="-20" dirty="0">
                <a:solidFill>
                  <a:srgbClr val="1382AC"/>
                </a:solidFill>
              </a:rPr>
              <a:t>O</a:t>
            </a:r>
            <a:r>
              <a:rPr sz="3200" spc="20" dirty="0">
                <a:solidFill>
                  <a:srgbClr val="1382AC"/>
                </a:solidFill>
              </a:rPr>
              <a:t>NE</a:t>
            </a:r>
            <a:r>
              <a:rPr sz="3200" spc="-200" dirty="0">
                <a:solidFill>
                  <a:srgbClr val="1382AC"/>
                </a:solidFill>
              </a:rPr>
              <a:t> </a:t>
            </a:r>
            <a:r>
              <a:rPr sz="3200" spc="35" dirty="0">
                <a:solidFill>
                  <a:srgbClr val="1382AC"/>
                </a:solidFill>
              </a:rPr>
              <a:t>P</a:t>
            </a:r>
            <a:r>
              <a:rPr sz="3200" spc="20" dirty="0">
                <a:solidFill>
                  <a:srgbClr val="1382AC"/>
                </a:solidFill>
              </a:rPr>
              <a:t>R</a:t>
            </a:r>
            <a:r>
              <a:rPr sz="3200" spc="-20" dirty="0">
                <a:solidFill>
                  <a:srgbClr val="1382AC"/>
                </a:solidFill>
              </a:rPr>
              <a:t>O</a:t>
            </a:r>
            <a:r>
              <a:rPr sz="3200" spc="15" dirty="0">
                <a:solidFill>
                  <a:srgbClr val="1382AC"/>
                </a:solidFill>
              </a:rPr>
              <a:t>J</a:t>
            </a:r>
            <a:r>
              <a:rPr sz="3200" spc="40" dirty="0">
                <a:solidFill>
                  <a:srgbClr val="1382AC"/>
                </a:solidFill>
              </a:rPr>
              <a:t>E</a:t>
            </a:r>
            <a:r>
              <a:rPr sz="3200" spc="20" dirty="0">
                <a:solidFill>
                  <a:srgbClr val="1382AC"/>
                </a:solidFill>
              </a:rPr>
              <a:t>CT</a:t>
            </a:r>
            <a:endParaRPr sz="3200"/>
          </a:p>
        </p:txBody>
      </p:sp>
      <p:sp>
        <p:nvSpPr>
          <p:cNvPr id="4" name="object 4"/>
          <p:cNvSpPr txBox="1"/>
          <p:nvPr/>
        </p:nvSpPr>
        <p:spPr>
          <a:xfrm>
            <a:off x="457200" y="3429000"/>
            <a:ext cx="11515725" cy="2239074"/>
          </a:xfrm>
          <a:prstGeom prst="rect">
            <a:avLst/>
          </a:prstGeom>
          <a:solidFill>
            <a:srgbClr val="465258"/>
          </a:solidFill>
        </p:spPr>
        <p:txBody>
          <a:bodyPr vert="horz" wrap="square" lIns="0" tIns="0" rIns="0" bIns="0" rtlCol="0">
            <a:spAutoFit/>
          </a:bodyPr>
          <a:lstStyle/>
          <a:p>
            <a:pPr>
              <a:lnSpc>
                <a:spcPct val="100000"/>
              </a:lnSpc>
            </a:pPr>
            <a:endParaRPr sz="2200">
              <a:latin typeface="Times New Roman"/>
              <a:cs typeface="Times New Roman"/>
            </a:endParaRPr>
          </a:p>
          <a:p>
            <a:pPr>
              <a:lnSpc>
                <a:spcPct val="100000"/>
              </a:lnSpc>
            </a:pPr>
            <a:endParaRPr sz="2200">
              <a:latin typeface="Times New Roman"/>
              <a:cs typeface="Times New Roman"/>
            </a:endParaRPr>
          </a:p>
          <a:p>
            <a:pPr>
              <a:lnSpc>
                <a:spcPct val="100000"/>
              </a:lnSpc>
            </a:pPr>
            <a:endParaRPr sz="2200">
              <a:latin typeface="Times New Roman"/>
              <a:cs typeface="Times New Roman"/>
            </a:endParaRPr>
          </a:p>
          <a:p>
            <a:pPr>
              <a:lnSpc>
                <a:spcPct val="100000"/>
              </a:lnSpc>
            </a:pPr>
            <a:endParaRPr sz="2200">
              <a:latin typeface="Times New Roman"/>
              <a:cs typeface="Times New Roman"/>
            </a:endParaRPr>
          </a:p>
          <a:p>
            <a:pPr>
              <a:lnSpc>
                <a:spcPct val="100000"/>
              </a:lnSpc>
              <a:spcBef>
                <a:spcPts val="45"/>
              </a:spcBef>
            </a:pPr>
            <a:endParaRPr sz="1750">
              <a:latin typeface="Times New Roman"/>
              <a:cs typeface="Times New Roman"/>
            </a:endParaRPr>
          </a:p>
          <a:p>
            <a:pPr marL="2763520">
              <a:lnSpc>
                <a:spcPct val="100000"/>
              </a:lnSpc>
            </a:pPr>
            <a:r>
              <a:rPr sz="2000" b="1" spc="15" dirty="0">
                <a:solidFill>
                  <a:srgbClr val="1382AC"/>
                </a:solidFill>
                <a:latin typeface="Arial"/>
                <a:cs typeface="Arial"/>
              </a:rPr>
              <a:t>P</a:t>
            </a:r>
            <a:r>
              <a:rPr sz="2000" b="1" spc="40" dirty="0">
                <a:solidFill>
                  <a:srgbClr val="1382AC"/>
                </a:solidFill>
                <a:latin typeface="Arial"/>
                <a:cs typeface="Arial"/>
              </a:rPr>
              <a:t>r</a:t>
            </a:r>
            <a:r>
              <a:rPr sz="2000" b="1" spc="15" dirty="0">
                <a:solidFill>
                  <a:srgbClr val="1382AC"/>
                </a:solidFill>
                <a:latin typeface="Arial"/>
                <a:cs typeface="Arial"/>
              </a:rPr>
              <a:t>es</a:t>
            </a:r>
            <a:r>
              <a:rPr sz="2000" b="1" spc="5" dirty="0">
                <a:solidFill>
                  <a:srgbClr val="1382AC"/>
                </a:solidFill>
                <a:latin typeface="Arial"/>
                <a:cs typeface="Arial"/>
              </a:rPr>
              <a:t>e</a:t>
            </a:r>
            <a:r>
              <a:rPr sz="2000" b="1" spc="45" dirty="0">
                <a:solidFill>
                  <a:srgbClr val="1382AC"/>
                </a:solidFill>
                <a:latin typeface="Arial"/>
                <a:cs typeface="Arial"/>
              </a:rPr>
              <a:t>n</a:t>
            </a:r>
            <a:r>
              <a:rPr sz="2000" b="1" spc="10" dirty="0">
                <a:solidFill>
                  <a:srgbClr val="1382AC"/>
                </a:solidFill>
                <a:latin typeface="Arial"/>
                <a:cs typeface="Arial"/>
              </a:rPr>
              <a:t>ted</a:t>
            </a:r>
            <a:r>
              <a:rPr sz="2000" b="1" spc="-150" dirty="0">
                <a:solidFill>
                  <a:srgbClr val="1382AC"/>
                </a:solidFill>
                <a:latin typeface="Arial"/>
                <a:cs typeface="Arial"/>
              </a:rPr>
              <a:t> </a:t>
            </a:r>
            <a:r>
              <a:rPr sz="2000" b="1" spc="45">
                <a:solidFill>
                  <a:srgbClr val="1382AC"/>
                </a:solidFill>
                <a:latin typeface="Arial"/>
                <a:cs typeface="Arial"/>
              </a:rPr>
              <a:t>B</a:t>
            </a:r>
            <a:r>
              <a:rPr sz="2000" b="1" spc="10">
                <a:solidFill>
                  <a:srgbClr val="1382AC"/>
                </a:solidFill>
                <a:latin typeface="Arial"/>
                <a:cs typeface="Arial"/>
              </a:rPr>
              <a:t>y</a:t>
            </a:r>
            <a:r>
              <a:rPr sz="2000" b="1" spc="10" smtClean="0">
                <a:solidFill>
                  <a:srgbClr val="1382AC"/>
                </a:solidFill>
                <a:latin typeface="Arial"/>
                <a:cs typeface="Arial"/>
              </a:rPr>
              <a:t>:</a:t>
            </a:r>
            <a:endParaRPr lang="en-IN" sz="2000" b="1" spc="10" dirty="0">
              <a:solidFill>
                <a:srgbClr val="1382AC"/>
              </a:solidFill>
              <a:latin typeface="Arial"/>
              <a:cs typeface="Arial"/>
            </a:endParaRPr>
          </a:p>
          <a:p>
            <a:pPr marL="2763520">
              <a:lnSpc>
                <a:spcPct val="100000"/>
              </a:lnSpc>
            </a:pPr>
            <a:r>
              <a:rPr sz="2000" b="1" spc="-75" smtClean="0">
                <a:solidFill>
                  <a:srgbClr val="1382AC"/>
                </a:solidFill>
                <a:latin typeface="Arial"/>
                <a:cs typeface="Arial"/>
              </a:rPr>
              <a:t> </a:t>
            </a:r>
            <a:r>
              <a:rPr lang="en-IN" sz="2000" b="1" spc="10" dirty="0" smtClean="0">
                <a:solidFill>
                  <a:srgbClr val="1382AC"/>
                </a:solidFill>
                <a:latin typeface="Arial"/>
                <a:cs typeface="Arial"/>
              </a:rPr>
              <a:t>LAVANYA.R </a:t>
            </a:r>
            <a:r>
              <a:rPr lang="en-IN" sz="2000" b="1" dirty="0" smtClean="0">
                <a:solidFill>
                  <a:srgbClr val="1382AC"/>
                </a:solidFill>
                <a:latin typeface="Arial"/>
                <a:cs typeface="Arial"/>
              </a:rPr>
              <a:t>- </a:t>
            </a:r>
            <a:r>
              <a:rPr lang="en-IN" sz="2000" b="1" spc="-25" dirty="0" smtClean="0">
                <a:solidFill>
                  <a:srgbClr val="1382AC"/>
                </a:solidFill>
                <a:latin typeface="Arial"/>
                <a:cs typeface="Arial"/>
              </a:rPr>
              <a:t>MADHA ENGINEERING COLLEGE</a:t>
            </a:r>
            <a:r>
              <a:rPr lang="en-IN" sz="2000" b="1" dirty="0" smtClean="0">
                <a:solidFill>
                  <a:srgbClr val="1382AC"/>
                </a:solidFill>
                <a:latin typeface="Arial"/>
                <a:cs typeface="Arial"/>
              </a:rPr>
              <a:t>-</a:t>
            </a:r>
            <a:r>
              <a:rPr lang="en-IN" sz="2000" b="1" spc="-25" dirty="0" smtClean="0">
                <a:solidFill>
                  <a:srgbClr val="1382AC"/>
                </a:solidFill>
                <a:latin typeface="Arial"/>
                <a:cs typeface="Arial"/>
              </a:rPr>
              <a:t>BIOTECHNOLOGY</a:t>
            </a:r>
            <a:endParaRPr sz="200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29005" y="1391602"/>
            <a:ext cx="1575435" cy="448945"/>
          </a:xfrm>
          <a:prstGeom prst="rect">
            <a:avLst/>
          </a:prstGeom>
        </p:spPr>
        <p:txBody>
          <a:bodyPr vert="horz" wrap="square" lIns="0" tIns="15875" rIns="0" bIns="0" rtlCol="0">
            <a:spAutoFit/>
          </a:bodyPr>
          <a:lstStyle/>
          <a:p>
            <a:pPr marL="12700">
              <a:lnSpc>
                <a:spcPct val="100000"/>
              </a:lnSpc>
              <a:spcBef>
                <a:spcPts val="125"/>
              </a:spcBef>
            </a:pPr>
            <a:r>
              <a:rPr spc="30" dirty="0"/>
              <a:t>OU</a:t>
            </a:r>
            <a:r>
              <a:rPr spc="40" dirty="0"/>
              <a:t>TL</a:t>
            </a:r>
            <a:r>
              <a:rPr spc="-95" dirty="0"/>
              <a:t>I</a:t>
            </a:r>
            <a:r>
              <a:rPr spc="30" dirty="0"/>
              <a:t>N</a:t>
            </a:r>
            <a:r>
              <a:rPr spc="15" dirty="0"/>
              <a:t>E</a:t>
            </a:r>
          </a:p>
        </p:txBody>
      </p:sp>
      <p:sp>
        <p:nvSpPr>
          <p:cNvPr id="3" name="object 3"/>
          <p:cNvSpPr txBox="1"/>
          <p:nvPr/>
        </p:nvSpPr>
        <p:spPr>
          <a:xfrm>
            <a:off x="917575" y="1952988"/>
            <a:ext cx="4178300" cy="3813175"/>
          </a:xfrm>
          <a:prstGeom prst="rect">
            <a:avLst/>
          </a:prstGeom>
        </p:spPr>
        <p:txBody>
          <a:bodyPr vert="horz" wrap="square" lIns="0" tIns="184785" rIns="0" bIns="0" rtlCol="0">
            <a:spAutoFit/>
          </a:bodyPr>
          <a:lstStyle/>
          <a:p>
            <a:pPr marL="317500" indent="-305435">
              <a:lnSpc>
                <a:spcPct val="100000"/>
              </a:lnSpc>
              <a:spcBef>
                <a:spcPts val="1455"/>
              </a:spcBef>
              <a:buClr>
                <a:srgbClr val="1CACE3"/>
              </a:buClr>
              <a:buSzPct val="92500"/>
              <a:buFont typeface="Cambria"/>
              <a:buChar char="◾"/>
              <a:tabLst>
                <a:tab pos="317500" algn="l"/>
                <a:tab pos="318135" algn="l"/>
              </a:tabLst>
            </a:pPr>
            <a:r>
              <a:rPr sz="2000" b="1" spc="20" dirty="0">
                <a:solidFill>
                  <a:srgbClr val="404040"/>
                </a:solidFill>
                <a:latin typeface="Arial"/>
                <a:cs typeface="Arial"/>
              </a:rPr>
              <a:t>Problem</a:t>
            </a:r>
            <a:r>
              <a:rPr sz="2000" b="1" spc="-140" dirty="0">
                <a:solidFill>
                  <a:srgbClr val="404040"/>
                </a:solidFill>
                <a:latin typeface="Arial"/>
                <a:cs typeface="Arial"/>
              </a:rPr>
              <a:t> </a:t>
            </a:r>
            <a:r>
              <a:rPr sz="2000" b="1" spc="15" dirty="0">
                <a:solidFill>
                  <a:srgbClr val="404040"/>
                </a:solidFill>
                <a:latin typeface="Arial"/>
                <a:cs typeface="Arial"/>
              </a:rPr>
              <a:t>Statement</a:t>
            </a:r>
            <a:endParaRPr sz="2000">
              <a:latin typeface="Arial"/>
              <a:cs typeface="Arial"/>
            </a:endParaRPr>
          </a:p>
          <a:p>
            <a:pPr marL="317500" indent="-305435">
              <a:lnSpc>
                <a:spcPct val="100000"/>
              </a:lnSpc>
              <a:spcBef>
                <a:spcPts val="1355"/>
              </a:spcBef>
              <a:buClr>
                <a:srgbClr val="1CACE3"/>
              </a:buClr>
              <a:buSzPct val="92500"/>
              <a:buFont typeface="Cambria"/>
              <a:buChar char="◾"/>
              <a:tabLst>
                <a:tab pos="317500" algn="l"/>
                <a:tab pos="318135" algn="l"/>
              </a:tabLst>
            </a:pPr>
            <a:r>
              <a:rPr sz="2000" b="1" spc="15" dirty="0">
                <a:solidFill>
                  <a:srgbClr val="404040"/>
                </a:solidFill>
                <a:latin typeface="Arial"/>
                <a:cs typeface="Arial"/>
              </a:rPr>
              <a:t>P</a:t>
            </a:r>
            <a:r>
              <a:rPr sz="2000" b="1" spc="40" dirty="0">
                <a:solidFill>
                  <a:srgbClr val="404040"/>
                </a:solidFill>
                <a:latin typeface="Arial"/>
                <a:cs typeface="Arial"/>
              </a:rPr>
              <a:t>r</a:t>
            </a:r>
            <a:r>
              <a:rPr sz="2000" b="1" spc="45" dirty="0">
                <a:solidFill>
                  <a:srgbClr val="404040"/>
                </a:solidFill>
                <a:latin typeface="Arial"/>
                <a:cs typeface="Arial"/>
              </a:rPr>
              <a:t>opo</a:t>
            </a:r>
            <a:r>
              <a:rPr sz="2000" b="1" spc="15" dirty="0">
                <a:solidFill>
                  <a:srgbClr val="404040"/>
                </a:solidFill>
                <a:latin typeface="Arial"/>
                <a:cs typeface="Arial"/>
              </a:rPr>
              <a:t>sed</a:t>
            </a:r>
            <a:r>
              <a:rPr sz="2000" b="1" spc="-225" dirty="0">
                <a:solidFill>
                  <a:srgbClr val="404040"/>
                </a:solidFill>
                <a:latin typeface="Arial"/>
                <a:cs typeface="Arial"/>
              </a:rPr>
              <a:t> </a:t>
            </a:r>
            <a:r>
              <a:rPr sz="2000" b="1" spc="15" dirty="0">
                <a:solidFill>
                  <a:srgbClr val="404040"/>
                </a:solidFill>
                <a:latin typeface="Arial"/>
                <a:cs typeface="Arial"/>
              </a:rPr>
              <a:t>Sy</a:t>
            </a:r>
            <a:r>
              <a:rPr sz="2000" b="1" spc="5" dirty="0">
                <a:solidFill>
                  <a:srgbClr val="404040"/>
                </a:solidFill>
                <a:latin typeface="Arial"/>
                <a:cs typeface="Arial"/>
              </a:rPr>
              <a:t>s</a:t>
            </a:r>
            <a:r>
              <a:rPr sz="2000" b="1" spc="10" dirty="0">
                <a:solidFill>
                  <a:srgbClr val="404040"/>
                </a:solidFill>
                <a:latin typeface="Arial"/>
                <a:cs typeface="Arial"/>
              </a:rPr>
              <a:t>te</a:t>
            </a:r>
            <a:r>
              <a:rPr sz="2000" b="1" spc="90" dirty="0">
                <a:solidFill>
                  <a:srgbClr val="404040"/>
                </a:solidFill>
                <a:latin typeface="Arial"/>
                <a:cs typeface="Arial"/>
              </a:rPr>
              <a:t>m</a:t>
            </a:r>
            <a:r>
              <a:rPr sz="2000" b="1" spc="35" dirty="0">
                <a:solidFill>
                  <a:srgbClr val="404040"/>
                </a:solidFill>
                <a:latin typeface="Arial"/>
                <a:cs typeface="Arial"/>
              </a:rPr>
              <a:t>/</a:t>
            </a:r>
            <a:r>
              <a:rPr sz="2000" b="1" spc="-65" dirty="0">
                <a:solidFill>
                  <a:srgbClr val="404040"/>
                </a:solidFill>
                <a:latin typeface="Arial"/>
                <a:cs typeface="Arial"/>
              </a:rPr>
              <a:t>S</a:t>
            </a:r>
            <a:r>
              <a:rPr sz="2000" b="1" spc="45" dirty="0">
                <a:solidFill>
                  <a:srgbClr val="404040"/>
                </a:solidFill>
                <a:latin typeface="Arial"/>
                <a:cs typeface="Arial"/>
              </a:rPr>
              <a:t>o</a:t>
            </a:r>
            <a:r>
              <a:rPr sz="2000" b="1" spc="-35" dirty="0">
                <a:solidFill>
                  <a:srgbClr val="404040"/>
                </a:solidFill>
                <a:latin typeface="Arial"/>
                <a:cs typeface="Arial"/>
              </a:rPr>
              <a:t>l</a:t>
            </a:r>
            <a:r>
              <a:rPr sz="2000" b="1" spc="-25" dirty="0">
                <a:solidFill>
                  <a:srgbClr val="404040"/>
                </a:solidFill>
                <a:latin typeface="Arial"/>
                <a:cs typeface="Arial"/>
              </a:rPr>
              <a:t>u</a:t>
            </a:r>
            <a:r>
              <a:rPr sz="2000" b="1" spc="5" dirty="0">
                <a:solidFill>
                  <a:srgbClr val="404040"/>
                </a:solidFill>
                <a:latin typeface="Arial"/>
                <a:cs typeface="Arial"/>
              </a:rPr>
              <a:t>t</a:t>
            </a:r>
            <a:r>
              <a:rPr sz="2000" b="1" spc="35" dirty="0">
                <a:solidFill>
                  <a:srgbClr val="404040"/>
                </a:solidFill>
                <a:latin typeface="Arial"/>
                <a:cs typeface="Arial"/>
              </a:rPr>
              <a:t>i</a:t>
            </a:r>
            <a:r>
              <a:rPr sz="2000" b="1" spc="-25" dirty="0">
                <a:solidFill>
                  <a:srgbClr val="404040"/>
                </a:solidFill>
                <a:latin typeface="Arial"/>
                <a:cs typeface="Arial"/>
              </a:rPr>
              <a:t>o</a:t>
            </a:r>
            <a:r>
              <a:rPr sz="2000" b="1" spc="15" dirty="0">
                <a:solidFill>
                  <a:srgbClr val="404040"/>
                </a:solidFill>
                <a:latin typeface="Arial"/>
                <a:cs typeface="Arial"/>
              </a:rPr>
              <a:t>n</a:t>
            </a:r>
            <a:endParaRPr sz="2000">
              <a:latin typeface="Arial"/>
              <a:cs typeface="Arial"/>
            </a:endParaRPr>
          </a:p>
          <a:p>
            <a:pPr marL="317500" indent="-305435">
              <a:lnSpc>
                <a:spcPct val="100000"/>
              </a:lnSpc>
              <a:spcBef>
                <a:spcPts val="1280"/>
              </a:spcBef>
              <a:buClr>
                <a:srgbClr val="1CACE3"/>
              </a:buClr>
              <a:buSzPct val="92500"/>
              <a:buFont typeface="Cambria"/>
              <a:buChar char="◾"/>
              <a:tabLst>
                <a:tab pos="317500" algn="l"/>
                <a:tab pos="318135" algn="l"/>
              </a:tabLst>
            </a:pPr>
            <a:r>
              <a:rPr sz="2000" b="1" spc="15" dirty="0">
                <a:solidFill>
                  <a:srgbClr val="404040"/>
                </a:solidFill>
                <a:latin typeface="Arial"/>
                <a:cs typeface="Arial"/>
              </a:rPr>
              <a:t>Sy</a:t>
            </a:r>
            <a:r>
              <a:rPr sz="2000" b="1" spc="5" dirty="0">
                <a:solidFill>
                  <a:srgbClr val="404040"/>
                </a:solidFill>
                <a:latin typeface="Arial"/>
                <a:cs typeface="Arial"/>
              </a:rPr>
              <a:t>s</a:t>
            </a:r>
            <a:r>
              <a:rPr sz="2000" b="1" spc="15" dirty="0">
                <a:solidFill>
                  <a:srgbClr val="404040"/>
                </a:solidFill>
                <a:latin typeface="Arial"/>
                <a:cs typeface="Arial"/>
              </a:rPr>
              <a:t>tem</a:t>
            </a:r>
            <a:r>
              <a:rPr sz="2000" b="1" spc="-35" dirty="0">
                <a:solidFill>
                  <a:srgbClr val="404040"/>
                </a:solidFill>
                <a:latin typeface="Arial"/>
                <a:cs typeface="Arial"/>
              </a:rPr>
              <a:t> </a:t>
            </a:r>
            <a:r>
              <a:rPr sz="2000" b="1" spc="50" dirty="0">
                <a:solidFill>
                  <a:srgbClr val="404040"/>
                </a:solidFill>
                <a:latin typeface="Arial"/>
                <a:cs typeface="Arial"/>
              </a:rPr>
              <a:t>D</a:t>
            </a:r>
            <a:r>
              <a:rPr sz="2000" b="1" spc="15" dirty="0">
                <a:solidFill>
                  <a:srgbClr val="404040"/>
                </a:solidFill>
                <a:latin typeface="Arial"/>
                <a:cs typeface="Arial"/>
              </a:rPr>
              <a:t>eve</a:t>
            </a:r>
            <a:r>
              <a:rPr sz="2000" b="1" spc="40" dirty="0">
                <a:solidFill>
                  <a:srgbClr val="404040"/>
                </a:solidFill>
                <a:latin typeface="Arial"/>
                <a:cs typeface="Arial"/>
              </a:rPr>
              <a:t>l</a:t>
            </a:r>
            <a:r>
              <a:rPr sz="2000" b="1" spc="50" dirty="0">
                <a:solidFill>
                  <a:srgbClr val="404040"/>
                </a:solidFill>
                <a:latin typeface="Arial"/>
                <a:cs typeface="Arial"/>
              </a:rPr>
              <a:t>o</a:t>
            </a:r>
            <a:r>
              <a:rPr sz="2000" b="1" spc="-25" dirty="0">
                <a:solidFill>
                  <a:srgbClr val="404040"/>
                </a:solidFill>
                <a:latin typeface="Arial"/>
                <a:cs typeface="Arial"/>
              </a:rPr>
              <a:t>p</a:t>
            </a:r>
            <a:r>
              <a:rPr sz="2000" b="1" spc="20" dirty="0">
                <a:solidFill>
                  <a:srgbClr val="404040"/>
                </a:solidFill>
                <a:latin typeface="Arial"/>
                <a:cs typeface="Arial"/>
              </a:rPr>
              <a:t>m</a:t>
            </a:r>
            <a:r>
              <a:rPr sz="2000" b="1" spc="-60" dirty="0">
                <a:solidFill>
                  <a:srgbClr val="404040"/>
                </a:solidFill>
                <a:latin typeface="Arial"/>
                <a:cs typeface="Arial"/>
              </a:rPr>
              <a:t>e</a:t>
            </a:r>
            <a:r>
              <a:rPr sz="2000" b="1" spc="50" dirty="0">
                <a:solidFill>
                  <a:srgbClr val="404040"/>
                </a:solidFill>
                <a:latin typeface="Arial"/>
                <a:cs typeface="Arial"/>
              </a:rPr>
              <a:t>n</a:t>
            </a:r>
            <a:r>
              <a:rPr sz="2000" b="1" spc="5" dirty="0">
                <a:solidFill>
                  <a:srgbClr val="404040"/>
                </a:solidFill>
                <a:latin typeface="Arial"/>
                <a:cs typeface="Arial"/>
              </a:rPr>
              <a:t>t</a:t>
            </a:r>
            <a:r>
              <a:rPr sz="2000" b="1" spc="-254" dirty="0">
                <a:solidFill>
                  <a:srgbClr val="404040"/>
                </a:solidFill>
                <a:latin typeface="Arial"/>
                <a:cs typeface="Arial"/>
              </a:rPr>
              <a:t> </a:t>
            </a:r>
            <a:r>
              <a:rPr sz="2000" b="1" spc="-25" dirty="0">
                <a:solidFill>
                  <a:srgbClr val="404040"/>
                </a:solidFill>
                <a:latin typeface="Arial"/>
                <a:cs typeface="Arial"/>
              </a:rPr>
              <a:t>A</a:t>
            </a:r>
            <a:r>
              <a:rPr sz="2000" b="1" spc="50" dirty="0">
                <a:solidFill>
                  <a:srgbClr val="404040"/>
                </a:solidFill>
                <a:latin typeface="Arial"/>
                <a:cs typeface="Arial"/>
              </a:rPr>
              <a:t>pp</a:t>
            </a:r>
            <a:r>
              <a:rPr sz="2000" b="1" spc="45" dirty="0">
                <a:solidFill>
                  <a:srgbClr val="404040"/>
                </a:solidFill>
                <a:latin typeface="Arial"/>
                <a:cs typeface="Arial"/>
              </a:rPr>
              <a:t>r</a:t>
            </a:r>
            <a:r>
              <a:rPr sz="2000" b="1" spc="50" dirty="0">
                <a:solidFill>
                  <a:srgbClr val="404040"/>
                </a:solidFill>
                <a:latin typeface="Arial"/>
                <a:cs typeface="Arial"/>
              </a:rPr>
              <a:t>o</a:t>
            </a:r>
            <a:r>
              <a:rPr sz="2000" b="1" spc="15" dirty="0">
                <a:solidFill>
                  <a:srgbClr val="404040"/>
                </a:solidFill>
                <a:latin typeface="Arial"/>
                <a:cs typeface="Arial"/>
              </a:rPr>
              <a:t>a</a:t>
            </a:r>
            <a:r>
              <a:rPr sz="2000" b="1" spc="-60" dirty="0">
                <a:solidFill>
                  <a:srgbClr val="404040"/>
                </a:solidFill>
                <a:latin typeface="Arial"/>
                <a:cs typeface="Arial"/>
              </a:rPr>
              <a:t>c</a:t>
            </a:r>
            <a:r>
              <a:rPr sz="2000" b="1" spc="15" dirty="0">
                <a:solidFill>
                  <a:srgbClr val="404040"/>
                </a:solidFill>
                <a:latin typeface="Arial"/>
                <a:cs typeface="Arial"/>
              </a:rPr>
              <a:t>h</a:t>
            </a:r>
            <a:endParaRPr sz="2000">
              <a:latin typeface="Arial"/>
              <a:cs typeface="Arial"/>
            </a:endParaRPr>
          </a:p>
          <a:p>
            <a:pPr marL="317500" indent="-305435">
              <a:lnSpc>
                <a:spcPct val="100000"/>
              </a:lnSpc>
              <a:spcBef>
                <a:spcPts val="1355"/>
              </a:spcBef>
              <a:buClr>
                <a:srgbClr val="1CACE3"/>
              </a:buClr>
              <a:buSzPct val="92500"/>
              <a:buFont typeface="Cambria"/>
              <a:buChar char="◾"/>
              <a:tabLst>
                <a:tab pos="317500" algn="l"/>
                <a:tab pos="318135" algn="l"/>
              </a:tabLst>
            </a:pPr>
            <a:r>
              <a:rPr sz="2000" b="1" spc="-25" dirty="0">
                <a:solidFill>
                  <a:srgbClr val="404040"/>
                </a:solidFill>
                <a:latin typeface="Arial"/>
                <a:cs typeface="Arial"/>
              </a:rPr>
              <a:t>A</a:t>
            </a:r>
            <a:r>
              <a:rPr sz="2000" b="1" spc="35" dirty="0">
                <a:solidFill>
                  <a:srgbClr val="404040"/>
                </a:solidFill>
                <a:latin typeface="Arial"/>
                <a:cs typeface="Arial"/>
              </a:rPr>
              <a:t>l</a:t>
            </a:r>
            <a:r>
              <a:rPr sz="2000" b="1" spc="45" dirty="0">
                <a:solidFill>
                  <a:srgbClr val="404040"/>
                </a:solidFill>
                <a:latin typeface="Arial"/>
                <a:cs typeface="Arial"/>
              </a:rPr>
              <a:t>go</a:t>
            </a:r>
            <a:r>
              <a:rPr sz="2000" b="1" spc="40" dirty="0">
                <a:solidFill>
                  <a:srgbClr val="404040"/>
                </a:solidFill>
                <a:latin typeface="Arial"/>
                <a:cs typeface="Arial"/>
              </a:rPr>
              <a:t>r</a:t>
            </a:r>
            <a:r>
              <a:rPr sz="2000" b="1" spc="35" dirty="0">
                <a:solidFill>
                  <a:srgbClr val="404040"/>
                </a:solidFill>
                <a:latin typeface="Arial"/>
                <a:cs typeface="Arial"/>
              </a:rPr>
              <a:t>i</a:t>
            </a:r>
            <a:r>
              <a:rPr sz="2000" b="1" spc="5" dirty="0">
                <a:solidFill>
                  <a:srgbClr val="404040"/>
                </a:solidFill>
                <a:latin typeface="Arial"/>
                <a:cs typeface="Arial"/>
              </a:rPr>
              <a:t>t</a:t>
            </a:r>
            <a:r>
              <a:rPr sz="2000" b="1" spc="-25" dirty="0">
                <a:solidFill>
                  <a:srgbClr val="404040"/>
                </a:solidFill>
                <a:latin typeface="Arial"/>
                <a:cs typeface="Arial"/>
              </a:rPr>
              <a:t>h</a:t>
            </a:r>
            <a:r>
              <a:rPr sz="2000" b="1" spc="20" dirty="0">
                <a:solidFill>
                  <a:srgbClr val="404040"/>
                </a:solidFill>
                <a:latin typeface="Arial"/>
                <a:cs typeface="Arial"/>
              </a:rPr>
              <a:t>m</a:t>
            </a:r>
            <a:r>
              <a:rPr sz="2000" b="1" spc="-185" dirty="0">
                <a:solidFill>
                  <a:srgbClr val="404040"/>
                </a:solidFill>
                <a:latin typeface="Arial"/>
                <a:cs typeface="Arial"/>
              </a:rPr>
              <a:t> </a:t>
            </a:r>
            <a:r>
              <a:rPr sz="2000" b="1" spc="15" dirty="0">
                <a:solidFill>
                  <a:srgbClr val="404040"/>
                </a:solidFill>
                <a:latin typeface="Arial"/>
                <a:cs typeface="Arial"/>
              </a:rPr>
              <a:t>&amp;</a:t>
            </a:r>
            <a:r>
              <a:rPr sz="2000" b="1" spc="-75" dirty="0">
                <a:solidFill>
                  <a:srgbClr val="404040"/>
                </a:solidFill>
                <a:latin typeface="Arial"/>
                <a:cs typeface="Arial"/>
              </a:rPr>
              <a:t> </a:t>
            </a:r>
            <a:r>
              <a:rPr sz="2000" b="1" spc="45" dirty="0">
                <a:solidFill>
                  <a:srgbClr val="404040"/>
                </a:solidFill>
                <a:latin typeface="Arial"/>
                <a:cs typeface="Arial"/>
              </a:rPr>
              <a:t>D</a:t>
            </a:r>
            <a:r>
              <a:rPr sz="2000" b="1" spc="15" dirty="0">
                <a:solidFill>
                  <a:srgbClr val="404040"/>
                </a:solidFill>
                <a:latin typeface="Arial"/>
                <a:cs typeface="Arial"/>
              </a:rPr>
              <a:t>e</a:t>
            </a:r>
            <a:r>
              <a:rPr sz="2000" b="1" spc="45" dirty="0">
                <a:solidFill>
                  <a:srgbClr val="404040"/>
                </a:solidFill>
                <a:latin typeface="Arial"/>
                <a:cs typeface="Arial"/>
              </a:rPr>
              <a:t>p</a:t>
            </a:r>
            <a:r>
              <a:rPr sz="2000" b="1" spc="35" dirty="0">
                <a:solidFill>
                  <a:srgbClr val="404040"/>
                </a:solidFill>
                <a:latin typeface="Arial"/>
                <a:cs typeface="Arial"/>
              </a:rPr>
              <a:t>l</a:t>
            </a:r>
            <a:r>
              <a:rPr sz="2000" b="1" spc="45" dirty="0">
                <a:solidFill>
                  <a:srgbClr val="404040"/>
                </a:solidFill>
                <a:latin typeface="Arial"/>
                <a:cs typeface="Arial"/>
              </a:rPr>
              <a:t>o</a:t>
            </a:r>
            <a:r>
              <a:rPr sz="2000" b="1" spc="-65" dirty="0">
                <a:solidFill>
                  <a:srgbClr val="404040"/>
                </a:solidFill>
                <a:latin typeface="Arial"/>
                <a:cs typeface="Arial"/>
              </a:rPr>
              <a:t>y</a:t>
            </a:r>
            <a:r>
              <a:rPr sz="2000" b="1" spc="15" dirty="0">
                <a:solidFill>
                  <a:srgbClr val="404040"/>
                </a:solidFill>
                <a:latin typeface="Arial"/>
                <a:cs typeface="Arial"/>
              </a:rPr>
              <a:t>me</a:t>
            </a:r>
            <a:r>
              <a:rPr sz="2000" b="1" spc="45" dirty="0">
                <a:solidFill>
                  <a:srgbClr val="404040"/>
                </a:solidFill>
                <a:latin typeface="Arial"/>
                <a:cs typeface="Arial"/>
              </a:rPr>
              <a:t>n</a:t>
            </a:r>
            <a:r>
              <a:rPr sz="2000" b="1" spc="5" dirty="0">
                <a:solidFill>
                  <a:srgbClr val="404040"/>
                </a:solidFill>
                <a:latin typeface="Arial"/>
                <a:cs typeface="Arial"/>
              </a:rPr>
              <a:t>t</a:t>
            </a:r>
            <a:endParaRPr sz="2000">
              <a:latin typeface="Arial"/>
              <a:cs typeface="Arial"/>
            </a:endParaRPr>
          </a:p>
          <a:p>
            <a:pPr marL="317500" indent="-305435">
              <a:lnSpc>
                <a:spcPct val="100000"/>
              </a:lnSpc>
              <a:spcBef>
                <a:spcPts val="1280"/>
              </a:spcBef>
              <a:buClr>
                <a:srgbClr val="1CACE3"/>
              </a:buClr>
              <a:buSzPct val="92500"/>
              <a:buFont typeface="Cambria"/>
              <a:buChar char="◾"/>
              <a:tabLst>
                <a:tab pos="317500" algn="l"/>
                <a:tab pos="318135" algn="l"/>
              </a:tabLst>
            </a:pPr>
            <a:r>
              <a:rPr sz="2000" b="1" spc="25" dirty="0">
                <a:solidFill>
                  <a:srgbClr val="404040"/>
                </a:solidFill>
                <a:latin typeface="Arial"/>
                <a:cs typeface="Arial"/>
              </a:rPr>
              <a:t>Result</a:t>
            </a:r>
            <a:endParaRPr sz="2000">
              <a:latin typeface="Arial"/>
              <a:cs typeface="Arial"/>
            </a:endParaRPr>
          </a:p>
          <a:p>
            <a:pPr marL="317500" indent="-305435">
              <a:lnSpc>
                <a:spcPct val="100000"/>
              </a:lnSpc>
              <a:spcBef>
                <a:spcPts val="1355"/>
              </a:spcBef>
              <a:buClr>
                <a:srgbClr val="1CACE3"/>
              </a:buClr>
              <a:buSzPct val="92500"/>
              <a:buFont typeface="Cambria"/>
              <a:buChar char="◾"/>
              <a:tabLst>
                <a:tab pos="317500" algn="l"/>
                <a:tab pos="318135" algn="l"/>
              </a:tabLst>
            </a:pPr>
            <a:r>
              <a:rPr sz="2000" b="1" spc="20" dirty="0">
                <a:solidFill>
                  <a:srgbClr val="404040"/>
                </a:solidFill>
                <a:latin typeface="Arial"/>
                <a:cs typeface="Arial"/>
              </a:rPr>
              <a:t>Conclusion</a:t>
            </a:r>
            <a:endParaRPr sz="2000">
              <a:latin typeface="Arial"/>
              <a:cs typeface="Arial"/>
            </a:endParaRPr>
          </a:p>
          <a:p>
            <a:pPr marL="317500" indent="-305435">
              <a:lnSpc>
                <a:spcPct val="100000"/>
              </a:lnSpc>
              <a:spcBef>
                <a:spcPts val="1355"/>
              </a:spcBef>
              <a:buClr>
                <a:srgbClr val="1CACE3"/>
              </a:buClr>
              <a:buSzPct val="92500"/>
              <a:buFont typeface="Cambria"/>
              <a:buChar char="◾"/>
              <a:tabLst>
                <a:tab pos="317500" algn="l"/>
                <a:tab pos="318135" algn="l"/>
              </a:tabLst>
            </a:pPr>
            <a:r>
              <a:rPr sz="2000" b="1" spc="45" dirty="0">
                <a:solidFill>
                  <a:srgbClr val="404040"/>
                </a:solidFill>
                <a:latin typeface="Arial"/>
                <a:cs typeface="Arial"/>
              </a:rPr>
              <a:t>Fu</a:t>
            </a:r>
            <a:r>
              <a:rPr sz="2000" b="1" spc="5" dirty="0">
                <a:solidFill>
                  <a:srgbClr val="404040"/>
                </a:solidFill>
                <a:latin typeface="Arial"/>
                <a:cs typeface="Arial"/>
              </a:rPr>
              <a:t>t</a:t>
            </a:r>
            <a:r>
              <a:rPr sz="2000" b="1" spc="45" dirty="0">
                <a:solidFill>
                  <a:srgbClr val="404040"/>
                </a:solidFill>
                <a:latin typeface="Arial"/>
                <a:cs typeface="Arial"/>
              </a:rPr>
              <a:t>u</a:t>
            </a:r>
            <a:r>
              <a:rPr sz="2000" b="1" spc="40" dirty="0">
                <a:solidFill>
                  <a:srgbClr val="404040"/>
                </a:solidFill>
                <a:latin typeface="Arial"/>
                <a:cs typeface="Arial"/>
              </a:rPr>
              <a:t>r</a:t>
            </a:r>
            <a:r>
              <a:rPr sz="2000" b="1" spc="15" dirty="0">
                <a:solidFill>
                  <a:srgbClr val="404040"/>
                </a:solidFill>
                <a:latin typeface="Arial"/>
                <a:cs typeface="Arial"/>
              </a:rPr>
              <a:t>e</a:t>
            </a:r>
            <a:r>
              <a:rPr sz="2000" b="1" spc="-185" dirty="0">
                <a:solidFill>
                  <a:srgbClr val="404040"/>
                </a:solidFill>
                <a:latin typeface="Arial"/>
                <a:cs typeface="Arial"/>
              </a:rPr>
              <a:t> </a:t>
            </a:r>
            <a:r>
              <a:rPr sz="2000" b="1" spc="15" dirty="0">
                <a:solidFill>
                  <a:srgbClr val="404040"/>
                </a:solidFill>
                <a:latin typeface="Arial"/>
                <a:cs typeface="Arial"/>
              </a:rPr>
              <a:t>Sc</a:t>
            </a:r>
            <a:r>
              <a:rPr sz="2000" b="1" spc="45" dirty="0">
                <a:solidFill>
                  <a:srgbClr val="404040"/>
                </a:solidFill>
                <a:latin typeface="Arial"/>
                <a:cs typeface="Arial"/>
              </a:rPr>
              <a:t>op</a:t>
            </a:r>
            <a:r>
              <a:rPr sz="2000" b="1" spc="15" dirty="0">
                <a:solidFill>
                  <a:srgbClr val="404040"/>
                </a:solidFill>
                <a:latin typeface="Arial"/>
                <a:cs typeface="Arial"/>
              </a:rPr>
              <a:t>e</a:t>
            </a:r>
            <a:endParaRPr sz="2000">
              <a:latin typeface="Arial"/>
              <a:cs typeface="Arial"/>
            </a:endParaRPr>
          </a:p>
          <a:p>
            <a:pPr marL="317500" indent="-305435">
              <a:lnSpc>
                <a:spcPct val="100000"/>
              </a:lnSpc>
              <a:spcBef>
                <a:spcPts val="1280"/>
              </a:spcBef>
              <a:buClr>
                <a:srgbClr val="1CACE3"/>
              </a:buClr>
              <a:buSzPct val="92500"/>
              <a:buFont typeface="Cambria"/>
              <a:buChar char="◾"/>
              <a:tabLst>
                <a:tab pos="317500" algn="l"/>
                <a:tab pos="318135" algn="l"/>
              </a:tabLst>
            </a:pPr>
            <a:r>
              <a:rPr sz="2000" b="1" spc="20" dirty="0">
                <a:solidFill>
                  <a:srgbClr val="404040"/>
                </a:solidFill>
                <a:latin typeface="Arial"/>
                <a:cs typeface="Arial"/>
              </a:rPr>
              <a:t>References</a:t>
            </a:r>
            <a:endParaRPr sz="200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0400" y="555307"/>
            <a:ext cx="5691505" cy="632460"/>
          </a:xfrm>
          <a:prstGeom prst="rect">
            <a:avLst/>
          </a:prstGeom>
        </p:spPr>
        <p:txBody>
          <a:bodyPr vert="horz" wrap="square" lIns="0" tIns="16510" rIns="0" bIns="0" rtlCol="0">
            <a:spAutoFit/>
          </a:bodyPr>
          <a:lstStyle/>
          <a:p>
            <a:pPr marL="12700">
              <a:lnSpc>
                <a:spcPct val="100000"/>
              </a:lnSpc>
              <a:spcBef>
                <a:spcPts val="130"/>
              </a:spcBef>
            </a:pPr>
            <a:r>
              <a:rPr sz="3950" spc="-5" dirty="0">
                <a:solidFill>
                  <a:srgbClr val="1CACE3"/>
                </a:solidFill>
              </a:rPr>
              <a:t>PROBLEM</a:t>
            </a:r>
            <a:r>
              <a:rPr sz="3950" spc="204" dirty="0">
                <a:solidFill>
                  <a:srgbClr val="1CACE3"/>
                </a:solidFill>
              </a:rPr>
              <a:t> </a:t>
            </a:r>
            <a:r>
              <a:rPr sz="3950" spc="-75" dirty="0">
                <a:solidFill>
                  <a:srgbClr val="1CACE3"/>
                </a:solidFill>
              </a:rPr>
              <a:t>STATEMENT</a:t>
            </a:r>
            <a:endParaRPr sz="3950"/>
          </a:p>
        </p:txBody>
      </p:sp>
      <p:sp>
        <p:nvSpPr>
          <p:cNvPr id="3" name="TextBox 2"/>
          <p:cNvSpPr txBox="1"/>
          <p:nvPr/>
        </p:nvSpPr>
        <p:spPr>
          <a:xfrm>
            <a:off x="914400" y="2057400"/>
            <a:ext cx="9372600" cy="3615630"/>
          </a:xfrm>
          <a:prstGeom prst="rect">
            <a:avLst/>
          </a:prstGeom>
          <a:noFill/>
        </p:spPr>
        <p:txBody>
          <a:bodyPr wrap="square" rtlCol="0">
            <a:spAutoFit/>
          </a:bodyPr>
          <a:lstStyle/>
          <a:p>
            <a:r>
              <a:rPr lang="en-US" sz="2800" dirty="0" smtClean="0"/>
              <a:t>The problem statement for color detection involves developing a system or algorithm capable of identifying and categorizing colors within an image or video feed. This could be for various applications such as image processing, computer vision, or assisting color-blind individuals. The system should accurately determine the color(s) present in the input and potentially provide additional information such as the color's name or its hexadecimal code.</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0400" y="555307"/>
            <a:ext cx="5643245" cy="632460"/>
          </a:xfrm>
          <a:prstGeom prst="rect">
            <a:avLst/>
          </a:prstGeom>
        </p:spPr>
        <p:txBody>
          <a:bodyPr vert="horz" wrap="square" lIns="0" tIns="16510" rIns="0" bIns="0" rtlCol="0">
            <a:spAutoFit/>
          </a:bodyPr>
          <a:lstStyle/>
          <a:p>
            <a:pPr marL="12700">
              <a:lnSpc>
                <a:spcPct val="100000"/>
              </a:lnSpc>
              <a:spcBef>
                <a:spcPts val="130"/>
              </a:spcBef>
            </a:pPr>
            <a:r>
              <a:rPr sz="3950" spc="-5" dirty="0">
                <a:solidFill>
                  <a:srgbClr val="1CACE3"/>
                </a:solidFill>
              </a:rPr>
              <a:t>PROPOSED</a:t>
            </a:r>
            <a:r>
              <a:rPr sz="3950" spc="254" dirty="0">
                <a:solidFill>
                  <a:srgbClr val="1CACE3"/>
                </a:solidFill>
              </a:rPr>
              <a:t> </a:t>
            </a:r>
            <a:r>
              <a:rPr sz="3950" dirty="0">
                <a:solidFill>
                  <a:srgbClr val="1CACE3"/>
                </a:solidFill>
              </a:rPr>
              <a:t>SOLUTION</a:t>
            </a:r>
            <a:endParaRPr sz="3950"/>
          </a:p>
        </p:txBody>
      </p:sp>
      <p:sp>
        <p:nvSpPr>
          <p:cNvPr id="3" name="TextBox 2"/>
          <p:cNvSpPr txBox="1"/>
          <p:nvPr/>
        </p:nvSpPr>
        <p:spPr>
          <a:xfrm>
            <a:off x="914400" y="1752600"/>
            <a:ext cx="9677400" cy="3785652"/>
          </a:xfrm>
          <a:prstGeom prst="rect">
            <a:avLst/>
          </a:prstGeom>
          <a:noFill/>
        </p:spPr>
        <p:txBody>
          <a:bodyPr wrap="square" rtlCol="0">
            <a:spAutoFit/>
          </a:bodyPr>
          <a:lstStyle/>
          <a:p>
            <a:r>
              <a:rPr lang="en-US" sz="2400" dirty="0" smtClean="0"/>
              <a:t>Color detection in data science often involves processing images to identify and classify colors present in them. One common approach is using computer vision techniques, such as clustering algorithms like k-means or Gaussian mixture models, to group pixels with similar colors together. Another method is to convert the image to a different color space, such as HSV or LAB, which can simplify the process of detecting and analyzing colors. Additionally, machine learning models, like </a:t>
            </a:r>
            <a:r>
              <a:rPr lang="en-US" sz="2400" dirty="0" err="1" smtClean="0"/>
              <a:t>convolutional</a:t>
            </a:r>
            <a:r>
              <a:rPr lang="en-US" sz="2400" dirty="0" smtClean="0"/>
              <a:t> neural networks (CNNs), can be trained to recognize specific colors or color patterns in images. The choice of method depends on factors like the complexity of the images, the required accuracy, and computational resources available.</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0400" y="497205"/>
            <a:ext cx="5242560" cy="632460"/>
          </a:xfrm>
          <a:prstGeom prst="rect">
            <a:avLst/>
          </a:prstGeom>
        </p:spPr>
        <p:txBody>
          <a:bodyPr vert="horz" wrap="square" lIns="0" tIns="16510" rIns="0" bIns="0" rtlCol="0">
            <a:spAutoFit/>
          </a:bodyPr>
          <a:lstStyle/>
          <a:p>
            <a:pPr marL="12700">
              <a:lnSpc>
                <a:spcPct val="100000"/>
              </a:lnSpc>
              <a:spcBef>
                <a:spcPts val="130"/>
              </a:spcBef>
              <a:tabLst>
                <a:tab pos="2366645" algn="l"/>
              </a:tabLst>
            </a:pPr>
            <a:r>
              <a:rPr sz="3950" spc="-5" dirty="0">
                <a:solidFill>
                  <a:srgbClr val="1CACE3"/>
                </a:solidFill>
              </a:rPr>
              <a:t>SYSTEM	</a:t>
            </a:r>
            <a:r>
              <a:rPr sz="3950" spc="-15" dirty="0">
                <a:solidFill>
                  <a:srgbClr val="1CACE3"/>
                </a:solidFill>
              </a:rPr>
              <a:t>APPROACH</a:t>
            </a:r>
            <a:endParaRPr sz="3950"/>
          </a:p>
        </p:txBody>
      </p:sp>
      <p:sp>
        <p:nvSpPr>
          <p:cNvPr id="3" name="TextBox 2"/>
          <p:cNvSpPr txBox="1"/>
          <p:nvPr/>
        </p:nvSpPr>
        <p:spPr>
          <a:xfrm>
            <a:off x="990600" y="1219200"/>
            <a:ext cx="10591800" cy="4708981"/>
          </a:xfrm>
          <a:prstGeom prst="rect">
            <a:avLst/>
          </a:prstGeom>
          <a:noFill/>
        </p:spPr>
        <p:txBody>
          <a:bodyPr wrap="square" rtlCol="0">
            <a:spAutoFit/>
          </a:bodyPr>
          <a:lstStyle/>
          <a:p>
            <a:r>
              <a:rPr lang="en-US" sz="2000" dirty="0" smtClean="0"/>
              <a:t>A systematic approach for color detection in data science involves several steps:</a:t>
            </a:r>
          </a:p>
          <a:p>
            <a:endParaRPr lang="en-US" sz="2000" dirty="0" smtClean="0"/>
          </a:p>
          <a:p>
            <a:pPr marL="342900" indent="-342900">
              <a:buAutoNum type="arabicPeriod"/>
            </a:pPr>
            <a:r>
              <a:rPr lang="en-US" sz="2000" dirty="0" smtClean="0"/>
              <a:t>*Problem Definition*: Clearly define the problem you're trying to solve with color detection. Are you looking to identify specific colors, detect objects based on color, or something else?</a:t>
            </a:r>
          </a:p>
          <a:p>
            <a:pPr marL="342900" indent="-342900">
              <a:buAutoNum type="arabicPeriod"/>
            </a:pPr>
            <a:r>
              <a:rPr lang="en-US" sz="2000" dirty="0" smtClean="0"/>
              <a:t>*Data Collection*: Gather a dataset of images that represent the range of colors you're interested in detecting. Ensure the images are labeled with the corresponding colors for supervised learning or analysis. </a:t>
            </a:r>
          </a:p>
          <a:p>
            <a:pPr marL="342900" indent="-342900">
              <a:buAutoNum type="arabicPeriod"/>
            </a:pPr>
            <a:r>
              <a:rPr lang="en-US" sz="2000" dirty="0" smtClean="0"/>
              <a:t> *Preprocessing*: Preprocess the images to standardize them for analysis. This may include resizing, normalization, and converting them to a common color space like RGB, HSV, or LAB.</a:t>
            </a:r>
          </a:p>
          <a:p>
            <a:pPr marL="342900" indent="-342900">
              <a:buAutoNum type="arabicPeriod"/>
            </a:pPr>
            <a:r>
              <a:rPr lang="en-US" sz="2000" dirty="0" smtClean="0"/>
              <a:t> *Feature Extraction*: Extract features from the images that represent the colors present. This could involve techniques like histogram-based color quantization, extracting color moments, or using texture descriptors.</a:t>
            </a:r>
          </a:p>
          <a:p>
            <a:pPr marL="342900" indent="-342900">
              <a:buAutoNum type="arabicPeriod"/>
            </a:pPr>
            <a:r>
              <a:rPr lang="en-US" sz="2000" dirty="0" smtClean="0"/>
              <a:t> *Model Selection*: Choose a suitable model or algorithm for color detection based on your problem and data. This could be a clustering algorithm like k-means, a classification algorithm like SVM or random forests, or a deep learning model like CNNs.</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0400" y="555307"/>
            <a:ext cx="7243445" cy="632460"/>
          </a:xfrm>
          <a:prstGeom prst="rect">
            <a:avLst/>
          </a:prstGeom>
        </p:spPr>
        <p:txBody>
          <a:bodyPr vert="horz" wrap="square" lIns="0" tIns="16510" rIns="0" bIns="0" rtlCol="0">
            <a:spAutoFit/>
          </a:bodyPr>
          <a:lstStyle/>
          <a:p>
            <a:pPr marL="12700">
              <a:lnSpc>
                <a:spcPct val="100000"/>
              </a:lnSpc>
              <a:spcBef>
                <a:spcPts val="130"/>
              </a:spcBef>
            </a:pPr>
            <a:r>
              <a:rPr sz="3950" spc="-10" dirty="0">
                <a:solidFill>
                  <a:srgbClr val="1CACE3"/>
                </a:solidFill>
              </a:rPr>
              <a:t>ALGORITHM</a:t>
            </a:r>
            <a:r>
              <a:rPr sz="3950" spc="350" dirty="0">
                <a:solidFill>
                  <a:srgbClr val="1CACE3"/>
                </a:solidFill>
              </a:rPr>
              <a:t> </a:t>
            </a:r>
            <a:r>
              <a:rPr sz="3950" spc="20" dirty="0">
                <a:solidFill>
                  <a:srgbClr val="1CACE3"/>
                </a:solidFill>
              </a:rPr>
              <a:t>&amp;</a:t>
            </a:r>
            <a:r>
              <a:rPr sz="3950" spc="-20" dirty="0">
                <a:solidFill>
                  <a:srgbClr val="1CACE3"/>
                </a:solidFill>
              </a:rPr>
              <a:t> </a:t>
            </a:r>
            <a:r>
              <a:rPr sz="3950" spc="5" dirty="0">
                <a:solidFill>
                  <a:srgbClr val="1CACE3"/>
                </a:solidFill>
              </a:rPr>
              <a:t>DEPLOYMENT</a:t>
            </a:r>
            <a:endParaRPr sz="3950"/>
          </a:p>
        </p:txBody>
      </p:sp>
      <p:sp>
        <p:nvSpPr>
          <p:cNvPr id="3" name="TextBox 2"/>
          <p:cNvSpPr txBox="1"/>
          <p:nvPr/>
        </p:nvSpPr>
        <p:spPr>
          <a:xfrm>
            <a:off x="838200" y="1676400"/>
            <a:ext cx="10439400" cy="4093428"/>
          </a:xfrm>
          <a:prstGeom prst="rect">
            <a:avLst/>
          </a:prstGeom>
          <a:noFill/>
        </p:spPr>
        <p:txBody>
          <a:bodyPr wrap="square" rtlCol="0">
            <a:spAutoFit/>
          </a:bodyPr>
          <a:lstStyle/>
          <a:p>
            <a:r>
              <a:rPr lang="en-US" sz="2000" dirty="0" smtClean="0"/>
              <a:t>For color detection in data science, one effective algorithm is using k-means clustering in the LAB color space. Here's how you can implement it:</a:t>
            </a:r>
          </a:p>
          <a:p>
            <a:pPr marL="342900" indent="-342900">
              <a:buAutoNum type="arabicPeriod"/>
            </a:pPr>
            <a:r>
              <a:rPr lang="en-US" sz="2000" dirty="0" smtClean="0"/>
              <a:t>*Preprocessing*: Convert the image from RGB to LAB color space. LAB separates color information (L for lightness, A for green-red, and B for blue-yellow) in a perceptually uniform manner, making it suitable for color analysis.</a:t>
            </a:r>
          </a:p>
          <a:p>
            <a:pPr marL="342900" indent="-342900">
              <a:buAutoNum type="arabicPeriod"/>
            </a:pPr>
            <a:r>
              <a:rPr lang="en-US" sz="2000" dirty="0" smtClean="0"/>
              <a:t> *Feature Extraction*: Flatten the LAB image into a 2D array where each row represents a pixel and the three columns represent the LAB values. This serves as the input for the clustering algorithm.</a:t>
            </a:r>
          </a:p>
          <a:p>
            <a:pPr marL="342900" indent="-342900">
              <a:buAutoNum type="arabicPeriod"/>
            </a:pPr>
            <a:r>
              <a:rPr lang="en-US" sz="2000" dirty="0" smtClean="0"/>
              <a:t>*Clustering*: Apply k-means clustering to the flattened LAB image, treating each pixel's LAB values as a feature vector. Choose the number of clusters (k) based on the number of distinct colors you want to detect.</a:t>
            </a:r>
          </a:p>
          <a:p>
            <a:pPr marL="342900" indent="-342900">
              <a:buAutoNum type="arabicPeriod"/>
            </a:pPr>
            <a:r>
              <a:rPr lang="en-US" sz="2000" dirty="0" smtClean="0"/>
              <a:t>*Labeling*: After clustering, each pixel will be assigned to one of the k clusters. Assign a label (color name or index) to each cluster </a:t>
            </a:r>
            <a:r>
              <a:rPr lang="en-US" sz="2000" dirty="0" err="1" smtClean="0"/>
              <a:t>centroid</a:t>
            </a:r>
            <a:r>
              <a:rPr lang="en-US" sz="2000" dirty="0" smtClean="0"/>
              <a:t> based on the predominant color it represents.</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0400" y="555307"/>
            <a:ext cx="1993900" cy="632460"/>
          </a:xfrm>
          <a:prstGeom prst="rect">
            <a:avLst/>
          </a:prstGeom>
        </p:spPr>
        <p:txBody>
          <a:bodyPr vert="horz" wrap="square" lIns="0" tIns="16510" rIns="0" bIns="0" rtlCol="0">
            <a:spAutoFit/>
          </a:bodyPr>
          <a:lstStyle/>
          <a:p>
            <a:pPr marL="12700">
              <a:lnSpc>
                <a:spcPct val="100000"/>
              </a:lnSpc>
              <a:spcBef>
                <a:spcPts val="130"/>
              </a:spcBef>
            </a:pPr>
            <a:r>
              <a:rPr sz="3950" spc="-5" dirty="0">
                <a:solidFill>
                  <a:srgbClr val="1CACE3"/>
                </a:solidFill>
              </a:rPr>
              <a:t>R</a:t>
            </a:r>
            <a:r>
              <a:rPr sz="3950" spc="-10" dirty="0">
                <a:solidFill>
                  <a:srgbClr val="1CACE3"/>
                </a:solidFill>
              </a:rPr>
              <a:t>ES</a:t>
            </a:r>
            <a:r>
              <a:rPr sz="3950" spc="-5" dirty="0">
                <a:solidFill>
                  <a:srgbClr val="1CACE3"/>
                </a:solidFill>
              </a:rPr>
              <a:t>U</a:t>
            </a:r>
            <a:r>
              <a:rPr sz="3950" spc="-315" dirty="0">
                <a:solidFill>
                  <a:srgbClr val="1CACE3"/>
                </a:solidFill>
              </a:rPr>
              <a:t>L</a:t>
            </a:r>
            <a:r>
              <a:rPr sz="3950" spc="20" dirty="0">
                <a:solidFill>
                  <a:srgbClr val="1CACE3"/>
                </a:solidFill>
              </a:rPr>
              <a:t>T</a:t>
            </a:r>
            <a:endParaRPr sz="3950"/>
          </a:p>
        </p:txBody>
      </p:sp>
      <p:sp>
        <p:nvSpPr>
          <p:cNvPr id="5122" name="AutoShape 2" descr="blob:https://web.whatsapp.com/b7a55a0a-d94f-425d-9ef0-90d807fe977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124" name="AutoShape 4" descr="blob:https://web.whatsapp.com/b7a55a0a-d94f-425d-9ef0-90d807fe977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p:cNvSpPr txBox="1"/>
          <p:nvPr/>
        </p:nvSpPr>
        <p:spPr>
          <a:xfrm>
            <a:off x="1143000" y="1981200"/>
            <a:ext cx="8229600" cy="2308324"/>
          </a:xfrm>
          <a:prstGeom prst="rect">
            <a:avLst/>
          </a:prstGeom>
          <a:noFill/>
        </p:spPr>
        <p:txBody>
          <a:bodyPr wrap="square" rtlCol="0">
            <a:spAutoFit/>
          </a:bodyPr>
          <a:lstStyle/>
          <a:p>
            <a:r>
              <a:rPr lang="en-US" sz="3600" dirty="0" smtClean="0"/>
              <a:t>The program detects a specific color range in an image and displays the original image alongside the areas where that color range is found.</a:t>
            </a:r>
            <a:endParaRPr lang="en-US" sz="3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4996" y="800988"/>
            <a:ext cx="7690804" cy="567463"/>
          </a:xfrm>
          <a:prstGeom prst="rect">
            <a:avLst/>
          </a:prstGeom>
        </p:spPr>
        <p:txBody>
          <a:bodyPr vert="horz" wrap="square" lIns="0" tIns="13335" rIns="0" bIns="0" rtlCol="0">
            <a:spAutoFit/>
          </a:bodyPr>
          <a:lstStyle/>
          <a:p>
            <a:pPr marL="12700">
              <a:lnSpc>
                <a:spcPct val="100000"/>
              </a:lnSpc>
              <a:spcBef>
                <a:spcPts val="105"/>
              </a:spcBef>
            </a:pPr>
            <a:r>
              <a:rPr sz="3300" spc="5">
                <a:solidFill>
                  <a:srgbClr val="1CACE3"/>
                </a:solidFill>
              </a:rPr>
              <a:t>FUTURE</a:t>
            </a:r>
            <a:r>
              <a:rPr sz="3300" spc="-110">
                <a:solidFill>
                  <a:srgbClr val="1CACE3"/>
                </a:solidFill>
              </a:rPr>
              <a:t> </a:t>
            </a:r>
            <a:r>
              <a:rPr sz="3300" spc="-15" smtClean="0">
                <a:solidFill>
                  <a:srgbClr val="1CACE3"/>
                </a:solidFill>
              </a:rPr>
              <a:t>SCOP</a:t>
            </a:r>
            <a:r>
              <a:rPr lang="en-IN" sz="3300" spc="-15" dirty="0" smtClean="0">
                <a:solidFill>
                  <a:srgbClr val="1CACE3"/>
                </a:solidFill>
              </a:rPr>
              <a:t>E &amp; </a:t>
            </a:r>
            <a:r>
              <a:rPr lang="en-US" sz="3600" dirty="0" smtClean="0">
                <a:solidFill>
                  <a:srgbClr val="1CACE3"/>
                </a:solidFill>
              </a:rPr>
              <a:t>CONCLUSION</a:t>
            </a:r>
            <a:endParaRPr sz="3300"/>
          </a:p>
        </p:txBody>
      </p:sp>
      <p:sp>
        <p:nvSpPr>
          <p:cNvPr id="5" name="TextBox 4"/>
          <p:cNvSpPr txBox="1"/>
          <p:nvPr/>
        </p:nvSpPr>
        <p:spPr>
          <a:xfrm>
            <a:off x="1066800" y="2133600"/>
            <a:ext cx="9601200" cy="3539430"/>
          </a:xfrm>
          <a:prstGeom prst="rect">
            <a:avLst/>
          </a:prstGeom>
          <a:noFill/>
        </p:spPr>
        <p:txBody>
          <a:bodyPr wrap="square" rtlCol="0">
            <a:spAutoFit/>
          </a:bodyPr>
          <a:lstStyle/>
          <a:p>
            <a:r>
              <a:rPr lang="en-US" sz="2800" dirty="0" smtClean="0"/>
              <a:t>In this paper we defined to get the required color field from an RGB image. In this various steps are implemented using </a:t>
            </a:r>
            <a:r>
              <a:rPr lang="en-US" sz="2800" dirty="0" err="1" smtClean="0"/>
              <a:t>openCv</a:t>
            </a:r>
            <a:r>
              <a:rPr lang="en-US" sz="2800" dirty="0" smtClean="0"/>
              <a:t> platform. The main positive point of this method is its color differentiation of a mono color. </a:t>
            </a:r>
          </a:p>
          <a:p>
            <a:r>
              <a:rPr lang="en-US" sz="2800" dirty="0" smtClean="0"/>
              <a:t>In the future scope, the detection of the edge detection techniques has different other applications like facial detection, color conversion for grey scale image etc. that can also be implemented.</a:t>
            </a:r>
            <a:endParaRPr 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0400" y="555307"/>
            <a:ext cx="3451860" cy="632460"/>
          </a:xfrm>
          <a:prstGeom prst="rect">
            <a:avLst/>
          </a:prstGeom>
        </p:spPr>
        <p:txBody>
          <a:bodyPr vert="horz" wrap="square" lIns="0" tIns="16510" rIns="0" bIns="0" rtlCol="0">
            <a:spAutoFit/>
          </a:bodyPr>
          <a:lstStyle/>
          <a:p>
            <a:pPr marL="12700">
              <a:lnSpc>
                <a:spcPct val="100000"/>
              </a:lnSpc>
              <a:spcBef>
                <a:spcPts val="130"/>
              </a:spcBef>
            </a:pPr>
            <a:r>
              <a:rPr sz="3950" spc="-5" dirty="0">
                <a:solidFill>
                  <a:srgbClr val="1CACE3"/>
                </a:solidFill>
              </a:rPr>
              <a:t>R</a:t>
            </a:r>
            <a:r>
              <a:rPr sz="3950" spc="-10" dirty="0">
                <a:solidFill>
                  <a:srgbClr val="1CACE3"/>
                </a:solidFill>
              </a:rPr>
              <a:t>E</a:t>
            </a:r>
            <a:r>
              <a:rPr sz="3950" spc="-15" dirty="0">
                <a:solidFill>
                  <a:srgbClr val="1CACE3"/>
                </a:solidFill>
              </a:rPr>
              <a:t>F</a:t>
            </a:r>
            <a:r>
              <a:rPr sz="3950" spc="-10" dirty="0">
                <a:solidFill>
                  <a:srgbClr val="1CACE3"/>
                </a:solidFill>
              </a:rPr>
              <a:t>E</a:t>
            </a:r>
            <a:r>
              <a:rPr sz="3950" spc="-5" dirty="0">
                <a:solidFill>
                  <a:srgbClr val="1CACE3"/>
                </a:solidFill>
              </a:rPr>
              <a:t>R</a:t>
            </a:r>
            <a:r>
              <a:rPr sz="3950" spc="-10" dirty="0">
                <a:solidFill>
                  <a:srgbClr val="1CACE3"/>
                </a:solidFill>
              </a:rPr>
              <a:t>E</a:t>
            </a:r>
            <a:r>
              <a:rPr sz="3950" spc="-5" dirty="0">
                <a:solidFill>
                  <a:srgbClr val="1CACE3"/>
                </a:solidFill>
              </a:rPr>
              <a:t>NC</a:t>
            </a:r>
            <a:r>
              <a:rPr sz="3950" spc="-10" dirty="0">
                <a:solidFill>
                  <a:srgbClr val="1CACE3"/>
                </a:solidFill>
              </a:rPr>
              <a:t>E</a:t>
            </a:r>
            <a:r>
              <a:rPr sz="3950" spc="20" dirty="0">
                <a:solidFill>
                  <a:srgbClr val="1CACE3"/>
                </a:solidFill>
              </a:rPr>
              <a:t>S</a:t>
            </a:r>
            <a:endParaRPr sz="3950"/>
          </a:p>
        </p:txBody>
      </p:sp>
      <p:sp>
        <p:nvSpPr>
          <p:cNvPr id="3" name="TextBox 2"/>
          <p:cNvSpPr txBox="1"/>
          <p:nvPr/>
        </p:nvSpPr>
        <p:spPr>
          <a:xfrm>
            <a:off x="685800" y="1447800"/>
            <a:ext cx="9677400" cy="4893647"/>
          </a:xfrm>
          <a:prstGeom prst="rect">
            <a:avLst/>
          </a:prstGeom>
          <a:noFill/>
        </p:spPr>
        <p:txBody>
          <a:bodyPr wrap="square" rtlCol="0">
            <a:spAutoFit/>
          </a:bodyPr>
          <a:lstStyle/>
          <a:p>
            <a:pPr>
              <a:buFont typeface="Wingdings" pitchFamily="2" charset="2"/>
              <a:buChar char="§"/>
            </a:pPr>
            <a:r>
              <a:rPr lang="en-US" sz="2400" dirty="0" smtClean="0"/>
              <a:t>Claudia </a:t>
            </a:r>
            <a:r>
              <a:rPr lang="en-US" sz="2400" dirty="0" err="1" smtClean="0"/>
              <a:t>Nieuwenhuis</a:t>
            </a:r>
            <a:r>
              <a:rPr lang="en-US" sz="2400" dirty="0" smtClean="0"/>
              <a:t>, “Spatially Varying Color Distributions for Interactive Multi Label Segmentation”, IEEE TRANSACTIONS ON PATTERN ANALYSIS AND MACHINE INTELLIGENCE, VOL 35, NO. 5, MAY 2013 </a:t>
            </a:r>
          </a:p>
          <a:p>
            <a:pPr>
              <a:buFont typeface="Wingdings" pitchFamily="2" charset="2"/>
              <a:buChar char="§"/>
            </a:pPr>
            <a:r>
              <a:rPr lang="en-US" sz="2400" dirty="0" smtClean="0"/>
              <a:t> </a:t>
            </a:r>
            <a:r>
              <a:rPr lang="en-US" sz="2400" dirty="0" err="1" smtClean="0"/>
              <a:t>Kok</a:t>
            </a:r>
            <a:r>
              <a:rPr lang="en-US" sz="2400" dirty="0" smtClean="0"/>
              <a:t> -</a:t>
            </a:r>
            <a:r>
              <a:rPr lang="en-US" sz="2400" dirty="0" err="1" smtClean="0"/>
              <a:t>Meng</a:t>
            </a:r>
            <a:r>
              <a:rPr lang="en-US" sz="2400" dirty="0" smtClean="0"/>
              <a:t> Lee, “Effects of Classification Methods on Color-Based Feature Detection with Food Processing Applications”, IEEE TRANSACTIONS ON AUTOMATION SCIENCE AND ENGINEERING, VOL. 4, NO. 1, JANUARY 2007</a:t>
            </a:r>
          </a:p>
          <a:p>
            <a:pPr>
              <a:buFont typeface="Wingdings" pitchFamily="2" charset="2"/>
              <a:buChar char="§"/>
            </a:pPr>
            <a:r>
              <a:rPr lang="en-US" sz="2400" dirty="0" smtClean="0"/>
              <a:t> J. Van de </a:t>
            </a:r>
            <a:r>
              <a:rPr lang="en-US" sz="2400" dirty="0" err="1" smtClean="0"/>
              <a:t>Weijer</a:t>
            </a:r>
            <a:r>
              <a:rPr lang="en-US" sz="2400" dirty="0" smtClean="0"/>
              <a:t>, “Curvature estimation in oriented patterns using curvilinear models applied to gradient vector fields”, IEEE TRANS PATTERN ANALYSIS AND MACHINE INTELLIGENCE, VOL. 23, N0. 9, PP. 1035- 1042, APRIL 2001</a:t>
            </a:r>
          </a:p>
          <a:p>
            <a:pPr>
              <a:buFont typeface="Wingdings" pitchFamily="2" charset="2"/>
              <a:buChar char="§"/>
            </a:pPr>
            <a:r>
              <a:rPr lang="en-US" sz="2400" dirty="0" smtClean="0"/>
              <a:t>  Alexander </a:t>
            </a:r>
            <a:r>
              <a:rPr lang="en-US" sz="2400" dirty="0" err="1" smtClean="0"/>
              <a:t>Toet</a:t>
            </a:r>
            <a:r>
              <a:rPr lang="en-US" sz="2400" dirty="0" smtClean="0"/>
              <a:t>, “Multisource Information Fusion Architectures Algorithms and Applications” SPIE 6947 BELLINGHAM WA USA THE INTERNATIONAL SOCIETY FOR OPTICAL ENGINEERING, 1 12, 2008</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875" rIns="0" bIns="0" rtlCol="0">
            <a:spAutoFit/>
          </a:bodyPr>
          <a:lstStyle/>
          <a:p>
            <a:pPr marL="50165">
              <a:lnSpc>
                <a:spcPct val="100000"/>
              </a:lnSpc>
              <a:spcBef>
                <a:spcPts val="125"/>
              </a:spcBef>
            </a:pPr>
            <a:r>
              <a:rPr spc="30" dirty="0"/>
              <a:t>THANK</a:t>
            </a:r>
            <a:r>
              <a:rPr spc="-145" dirty="0"/>
              <a:t> </a:t>
            </a:r>
            <a:r>
              <a:rPr spc="25" dirty="0"/>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145</TotalTime>
  <Words>876</Words>
  <Application>Microsoft Office PowerPoint</Application>
  <PresentationFormat>Custom</PresentationFormat>
  <Paragraphs>47</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CAPSTONE PROJECT</vt:lpstr>
      <vt:lpstr>OUTLINE</vt:lpstr>
      <vt:lpstr>PROBLEM STATEMENT</vt:lpstr>
      <vt:lpstr>PROPOSED SOLUTION</vt:lpstr>
      <vt:lpstr>SYSTEM APPROACH</vt:lpstr>
      <vt:lpstr>ALGORITHM &amp; DEPLOYMENT</vt:lpstr>
      <vt:lpstr>RESULT</vt:lpstr>
      <vt:lpstr>FUTURE SCOPE &amp; CONCLUSION</vt:lpstr>
      <vt:lpstr>REFERENCES</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dc:title>
  <dc:creator>lavanya</dc:creator>
  <cp:lastModifiedBy>lavanya</cp:lastModifiedBy>
  <cp:revision>8</cp:revision>
  <dcterms:created xsi:type="dcterms:W3CDTF">2024-04-04T13:53:43Z</dcterms:created>
  <dcterms:modified xsi:type="dcterms:W3CDTF">2024-04-05T12:19:43Z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2024-03-27T00:00:00Z</vt:filetime>
  </property>
  <property fmtid="{D5CDD505-2E9C-101B-9397-08002B2CF9AE}" pid="3" name="LastSaved">
    <vt:filetime>2024-04-04T00:00:00Z</vt:filetime>
  </property>
</Properties>
</file>